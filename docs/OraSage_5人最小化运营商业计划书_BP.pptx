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D2357"/>
                </a:solidFill>
              </a:defRPr>
            </a:pPr>
            <a:r>
              <a:t>OraSage 商业计划书（5人最小化运营版）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 b="0">
                <a:solidFill>
                  <a:srgbClr val="282828"/>
                </a:solidFill>
              </a:defRPr>
            </a:pPr>
            <a:r>
              <a:t>命理服务 + 电商的一体化商业化方案</a:t>
            </a:r>
            <a:br/>
            <a:r>
              <a:t>2026-07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87878"/>
                </a:solidFill>
              </a:defRPr>
            </a:pPr>
            <a:r>
              <a:t>OraSage | 5人最小化运营 BP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D2357"/>
                </a:solidFill>
              </a:defRPr>
            </a:pPr>
            <a:r>
              <a:t>项目概览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02020"/>
                </a:solidFill>
              </a:defRPr>
            </a:pPr>
            <a:r>
              <a:t>OraSage 是命理服务（bazi/ziwei/tarot）+ 电商（shop）+ 统一账户（auth）平台。</a:t>
            </a:r>
          </a:p>
          <a:p>
            <a:pPr>
              <a:defRPr sz="2200">
                <a:solidFill>
                  <a:srgbClr val="202020"/>
                </a:solidFill>
              </a:defRPr>
            </a:pPr>
            <a:r>
              <a:t>当前 8 个应用架构已基本成型，具备跨应用登录与交易承接能力。</a:t>
            </a:r>
          </a:p>
          <a:p>
            <a:pPr>
              <a:defRPr sz="2200">
                <a:solidFill>
                  <a:srgbClr val="202020"/>
                </a:solidFill>
              </a:defRPr>
            </a:pPr>
            <a:r>
              <a:t>商业化重点：把“可运行”升级为“可持续盈利”。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87878"/>
                </a:solidFill>
              </a:defRPr>
            </a:pPr>
            <a:r>
              <a:t>OraSage | 5人最小化运营 BP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D2357"/>
                </a:solidFill>
              </a:defRPr>
            </a:pPr>
            <a:r>
              <a:t>市场机会与用户痛点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02020"/>
                </a:solidFill>
              </a:defRPr>
            </a:pPr>
            <a:r>
              <a:t>用户需求：情绪压力、决策焦虑、关系与职业困惑持续增长。</a:t>
            </a:r>
          </a:p>
          <a:p>
            <a:pPr>
              <a:defRPr sz="2200">
                <a:solidFill>
                  <a:srgbClr val="202020"/>
                </a:solidFill>
              </a:defRPr>
            </a:pPr>
            <a:r>
              <a:t>现有产品痛点：内容碎片化、可信度不足、服务交付不稳定。</a:t>
            </a:r>
          </a:p>
          <a:p>
            <a:pPr>
              <a:defRPr sz="2200">
                <a:solidFill>
                  <a:srgbClr val="202020"/>
                </a:solidFill>
              </a:defRPr>
            </a:pPr>
            <a:r>
              <a:t>机会窗口：AI + 命理内容 + 电商承接，形成“内容-服务-商品”闭环。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87878"/>
                </a:solidFill>
              </a:defRPr>
            </a:pPr>
            <a:r>
              <a:t>OraSage | 5人最小化运营 BP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D2357"/>
                </a:solidFill>
              </a:defRPr>
            </a:pPr>
            <a:r>
              <a:t>产品与技术现状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02020"/>
                </a:solidFill>
              </a:defRPr>
            </a:pPr>
            <a:r>
              <a:t>已具备：8 应用子域架构、统一登录桥接、商城下单承接。</a:t>
            </a:r>
          </a:p>
          <a:p>
            <a:pPr>
              <a:defRPr sz="2200">
                <a:solidFill>
                  <a:srgbClr val="202020"/>
                </a:solidFill>
              </a:defRPr>
            </a:pPr>
            <a:r>
              <a:t>可支撑：多应用分层部署与跨应用用户识别。</a:t>
            </a:r>
          </a:p>
          <a:p>
            <a:pPr>
              <a:defRPr sz="2200">
                <a:solidFill>
                  <a:srgbClr val="202020"/>
                </a:solidFill>
              </a:defRPr>
            </a:pPr>
            <a:r>
              <a:t>待补齐：真实 VPS 全链路验收、admin/cms 运营化、E2E 与监控。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87878"/>
                </a:solidFill>
              </a:defRPr>
            </a:pPr>
            <a:r>
              <a:t>OraSage | 5人最小化运营 BP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D2357"/>
                </a:solidFill>
              </a:defRPr>
            </a:pPr>
            <a:r>
              <a:t>商业模式设计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02020"/>
                </a:solidFill>
              </a:defRPr>
            </a:pPr>
            <a:r>
              <a:t>收入线 1：数字内容付费（深度报告、AI 解读包）。</a:t>
            </a:r>
          </a:p>
          <a:p>
            <a:pPr>
              <a:defRPr sz="2200">
                <a:solidFill>
                  <a:srgbClr val="202020"/>
                </a:solidFill>
              </a:defRPr>
            </a:pPr>
            <a:r>
              <a:t>收入线 2：会员订阅（月卡/季卡，权益含内容+折扣）。</a:t>
            </a:r>
          </a:p>
          <a:p>
            <a:pPr>
              <a:defRPr sz="2200">
                <a:solidFill>
                  <a:srgbClr val="202020"/>
                </a:solidFill>
              </a:defRPr>
            </a:pPr>
            <a:r>
              <a:t>收入线 3：电商毛利（推荐商品、组合套餐）。</a:t>
            </a:r>
          </a:p>
          <a:p>
            <a:pPr>
              <a:defRPr sz="2200">
                <a:solidFill>
                  <a:srgbClr val="202020"/>
                </a:solidFill>
              </a:defRPr>
            </a:pPr>
            <a:r>
              <a:t>收入线 4：高客单服务（1v1 咨询、年度规划）。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87878"/>
                </a:solidFill>
              </a:defRPr>
            </a:pPr>
            <a:r>
              <a:t>OraSage | 5人最小化运营 BP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D2357"/>
                </a:solidFill>
              </a:defRPr>
            </a:pPr>
            <a:r>
              <a:t>核心增长漏斗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02020"/>
                </a:solidFill>
              </a:defRPr>
            </a:pPr>
            <a:r>
              <a:t>渠道获客：SEO 内容、短视频、社媒矩阵、私域裂变。</a:t>
            </a:r>
          </a:p>
          <a:p>
            <a:pPr>
              <a:defRPr sz="2200">
                <a:solidFill>
                  <a:srgbClr val="202020"/>
                </a:solidFill>
              </a:defRPr>
            </a:pPr>
            <a:r>
              <a:t>转化路径：免费测算 -&gt; 深度报告付费 -&gt; 商品加购 -&gt; 会员复购。</a:t>
            </a:r>
          </a:p>
          <a:p>
            <a:pPr>
              <a:defRPr sz="2200">
                <a:solidFill>
                  <a:srgbClr val="202020"/>
                </a:solidFill>
              </a:defRPr>
            </a:pPr>
            <a:r>
              <a:t>运营重点：A/B 测试（价格、文案、推荐位）、客服 SOP、复购激励。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87878"/>
                </a:solidFill>
              </a:defRPr>
            </a:pPr>
            <a:r>
              <a:t>OraSage | 5人最小化运营 BP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D2357"/>
                </a:solidFill>
              </a:defRPr>
            </a:pPr>
            <a:r>
              <a:t>5人最小化团队配置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02020"/>
                </a:solidFill>
              </a:defRPr>
            </a:pPr>
            <a:r>
              <a:t>负责人（1）：产品与商业策略、关键决策与合作。</a:t>
            </a:r>
          </a:p>
          <a:p>
            <a:pPr>
              <a:defRPr sz="2200">
                <a:solidFill>
                  <a:srgbClr val="202020"/>
                </a:solidFill>
              </a:defRPr>
            </a:pPr>
            <a:r>
              <a:t>技术负责人（1）：稳定性、上线、数据口径与安全。</a:t>
            </a:r>
          </a:p>
          <a:p>
            <a:pPr>
              <a:defRPr sz="2200">
                <a:solidFill>
                  <a:srgbClr val="202020"/>
                </a:solidFill>
              </a:defRPr>
            </a:pPr>
            <a:r>
              <a:t>全栈工程师（1）：支付链路、后台最小功能、实验迭代。</a:t>
            </a:r>
          </a:p>
          <a:p>
            <a:pPr>
              <a:defRPr sz="2200">
                <a:solidFill>
                  <a:srgbClr val="202020"/>
                </a:solidFill>
              </a:defRPr>
            </a:pPr>
            <a:r>
              <a:t>增长运营（1）：内容分发、转化漏斗、用户留存。</a:t>
            </a:r>
          </a:p>
          <a:p>
            <a:pPr>
              <a:defRPr sz="2200">
                <a:solidFill>
                  <a:srgbClr val="202020"/>
                </a:solidFill>
              </a:defRPr>
            </a:pPr>
            <a:r>
              <a:t>内容/交付（1）：命理内容生产、会员服务、客服交付。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87878"/>
                </a:solidFill>
              </a:defRPr>
            </a:pPr>
            <a:r>
              <a:t>OraSage | 5人最小化运营 BP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D2357"/>
                </a:solidFill>
              </a:defRPr>
            </a:pPr>
            <a:r>
              <a:t>90天执行路线图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02020"/>
                </a:solidFill>
              </a:defRPr>
            </a:pPr>
            <a:r>
              <a:t>D1-D30：上线就绪与验收（登录、支付、订单、日志告警）。</a:t>
            </a:r>
          </a:p>
          <a:p>
            <a:pPr>
              <a:defRPr sz="2200">
                <a:solidFill>
                  <a:srgbClr val="202020"/>
                </a:solidFill>
              </a:defRPr>
            </a:pPr>
            <a:r>
              <a:t>D31-D60：商业化首版（分层定价、会员首版、运营流程）。</a:t>
            </a:r>
          </a:p>
          <a:p>
            <a:pPr>
              <a:defRPr sz="2200">
                <a:solidFill>
                  <a:srgbClr val="202020"/>
                </a:solidFill>
              </a:defRPr>
            </a:pPr>
            <a:r>
              <a:t>D61-D90：增长验证（投放小规模复制、复购与留存优化）。</a:t>
            </a:r>
          </a:p>
          <a:p>
            <a:pPr>
              <a:defRPr sz="2200">
                <a:solidFill>
                  <a:srgbClr val="202020"/>
                </a:solidFill>
              </a:defRPr>
            </a:pPr>
            <a:r>
              <a:t>原则：先验证转化，再放大投放。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87878"/>
                </a:solidFill>
              </a:defRPr>
            </a:pPr>
            <a:r>
              <a:t>OraSage | 5人最小化运营 BP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D2357"/>
                </a:solidFill>
              </a:defRPr>
            </a:pPr>
            <a:r>
              <a:t>产品路线（MVP范围）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02020"/>
                </a:solidFill>
              </a:defRPr>
            </a:pPr>
            <a:r>
              <a:t>必做：登录打通、核心测算路径、支付闭环、订单可追踪。</a:t>
            </a:r>
          </a:p>
          <a:p>
            <a:pPr>
              <a:defRPr sz="2200">
                <a:solidFill>
                  <a:srgbClr val="202020"/>
                </a:solidFill>
              </a:defRPr>
            </a:pPr>
            <a:r>
              <a:t>必做：后台最小运营功能（用户/订单/内容）。</a:t>
            </a:r>
          </a:p>
          <a:p>
            <a:pPr>
              <a:defRPr sz="2200">
                <a:solidFill>
                  <a:srgbClr val="202020"/>
                </a:solidFill>
              </a:defRPr>
            </a:pPr>
            <a:r>
              <a:t>延后：复杂社区、重型推荐系统、非关键视觉重构。</a:t>
            </a:r>
          </a:p>
          <a:p>
            <a:pPr>
              <a:defRPr sz="2200">
                <a:solidFill>
                  <a:srgbClr val="202020"/>
                </a:solidFill>
              </a:defRPr>
            </a:pPr>
            <a:r>
              <a:t>目标：以最小功能集形成可验证的营收闭环。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87878"/>
                </a:solidFill>
              </a:defRPr>
            </a:pPr>
            <a:r>
              <a:t>OraSage | 5人最小化运营 BP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D2357"/>
                </a:solidFill>
              </a:defRPr>
            </a:pPr>
            <a:r>
              <a:t>技术与交付策略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02020"/>
                </a:solidFill>
              </a:defRPr>
            </a:pPr>
            <a:r>
              <a:t>架构策略：各应用独立部署，内网 API 调用，边界清晰。</a:t>
            </a:r>
          </a:p>
          <a:p>
            <a:pPr>
              <a:defRPr sz="2200">
                <a:solidFill>
                  <a:srgbClr val="202020"/>
                </a:solidFill>
              </a:defRPr>
            </a:pPr>
            <a:r>
              <a:t>质量策略：关键链路 E2E（登录-&gt;测算-&gt;下单-&gt;支付）。</a:t>
            </a:r>
          </a:p>
          <a:p>
            <a:pPr>
              <a:defRPr sz="2200">
                <a:solidFill>
                  <a:srgbClr val="202020"/>
                </a:solidFill>
              </a:defRPr>
            </a:pPr>
            <a:r>
              <a:t>监控策略：可用性、错误率、支付成功率、核心接口延迟。</a:t>
            </a:r>
          </a:p>
          <a:p>
            <a:pPr>
              <a:defRPr sz="2200">
                <a:solidFill>
                  <a:srgbClr val="202020"/>
                </a:solidFill>
              </a:defRPr>
            </a:pPr>
            <a:r>
              <a:t>安全策略：JWT/密钥管理、支付回调验签、权限最小化。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87878"/>
                </a:solidFill>
              </a:defRPr>
            </a:pPr>
            <a:r>
              <a:t>OraSage | 5人最小化运营 BP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D2357"/>
                </a:solidFill>
              </a:defRPr>
            </a:pPr>
            <a:r>
              <a:t>运营策略（内容+转化+复购）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02020"/>
                </a:solidFill>
              </a:defRPr>
            </a:pPr>
            <a:r>
              <a:t>内容：围绕高需求场景做专题（情感、事业、财富、健康）。</a:t>
            </a:r>
          </a:p>
          <a:p>
            <a:pPr>
              <a:defRPr sz="2200">
                <a:solidFill>
                  <a:srgbClr val="202020"/>
                </a:solidFill>
              </a:defRPr>
            </a:pPr>
            <a:r>
              <a:t>转化：免费内容引导低客单首购，首购后推荐会员。</a:t>
            </a:r>
          </a:p>
          <a:p>
            <a:pPr>
              <a:defRPr sz="2200">
                <a:solidFill>
                  <a:srgbClr val="202020"/>
                </a:solidFill>
              </a:defRPr>
            </a:pPr>
            <a:r>
              <a:t>复购：会员内容日历、节气节点活动、私域触达机制。</a:t>
            </a:r>
          </a:p>
          <a:p>
            <a:pPr>
              <a:defRPr sz="2200">
                <a:solidFill>
                  <a:srgbClr val="202020"/>
                </a:solidFill>
              </a:defRPr>
            </a:pPr>
            <a:r>
              <a:t>服务：标准化咨询模板，缩短交付时间，提升满意度。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87878"/>
                </a:solidFill>
              </a:defRPr>
            </a:pPr>
            <a:r>
              <a:t>OraSage | 5人最小化运营 BP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D2357"/>
                </a:solidFill>
              </a:defRPr>
            </a:pPr>
            <a:r>
              <a:t>财务模型假设（基准）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02020"/>
                </a:solidFill>
              </a:defRPr>
            </a:pPr>
            <a:r>
              <a:t>团队人数：5人；月固定成本（人力+基础运营）：17万~22万。</a:t>
            </a:r>
          </a:p>
          <a:p>
            <a:pPr>
              <a:defRPr sz="2200">
                <a:solidFill>
                  <a:srgbClr val="202020"/>
                </a:solidFill>
              </a:defRPr>
            </a:pPr>
            <a:r>
              <a:t>技术与工具：0.8万~1.5万/月；增长投放：2万~6万/月。</a:t>
            </a:r>
          </a:p>
          <a:p>
            <a:pPr>
              <a:defRPr sz="2200">
                <a:solidFill>
                  <a:srgbClr val="202020"/>
                </a:solidFill>
              </a:defRPr>
            </a:pPr>
            <a:r>
              <a:t>收入结构：数字付费 + 会员订阅 + 电商毛利。</a:t>
            </a:r>
          </a:p>
          <a:p>
            <a:pPr>
              <a:defRPr sz="2200">
                <a:solidFill>
                  <a:srgbClr val="202020"/>
                </a:solidFill>
              </a:defRPr>
            </a:pPr>
            <a:r>
              <a:t>公式：月毛利 = 数字毛利 + 会员毛利 + 电商毛利。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87878"/>
                </a:solidFill>
              </a:defRPr>
            </a:pPr>
            <a:r>
              <a:t>OraSage | 5人最小化运营 BP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D2357"/>
                </a:solidFill>
              </a:defRPr>
            </a:pPr>
            <a:r>
              <a:t>财务预测（三情景）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02020"/>
                </a:solidFill>
              </a:defRPr>
            </a:pPr>
            <a:r>
              <a:t>保守：月毛利 14万，月成本 20万，月经营结果 -6万。</a:t>
            </a:r>
          </a:p>
          <a:p>
            <a:pPr>
              <a:defRPr sz="2200">
                <a:solidFill>
                  <a:srgbClr val="202020"/>
                </a:solidFill>
              </a:defRPr>
            </a:pPr>
            <a:r>
              <a:t>基准：月毛利 24万，月成本 22万，月经营结果 +2万。</a:t>
            </a:r>
          </a:p>
          <a:p>
            <a:pPr>
              <a:defRPr sz="2200">
                <a:solidFill>
                  <a:srgbClr val="202020"/>
                </a:solidFill>
              </a:defRPr>
            </a:pPr>
            <a:r>
              <a:t>进取：月毛利 38万，月成本 26万，月经营结果 +12万。</a:t>
            </a:r>
          </a:p>
          <a:p>
            <a:pPr>
              <a:defRPr sz="2200">
                <a:solidFill>
                  <a:srgbClr val="202020"/>
                </a:solidFill>
              </a:defRPr>
            </a:pPr>
            <a:r>
              <a:t>现金建议：准备 9 个月 runway（180万~220万）。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87878"/>
                </a:solidFill>
              </a:defRPr>
            </a:pPr>
            <a:r>
              <a:t>OraSage | 5人最小化运营 BP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D2357"/>
                </a:solidFill>
              </a:defRPr>
            </a:pPr>
            <a:r>
              <a:t>关键KPI与里程碑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02020"/>
                </a:solidFill>
              </a:defRPr>
            </a:pPr>
            <a:r>
              <a:t>获客：UV、注册转化率、渠道成本。</a:t>
            </a:r>
          </a:p>
          <a:p>
            <a:pPr>
              <a:defRPr sz="2200">
                <a:solidFill>
                  <a:srgbClr val="202020"/>
                </a:solidFill>
              </a:defRPr>
            </a:pPr>
            <a:r>
              <a:t>变现：付费转化率、ARPPU、会员渗透率。</a:t>
            </a:r>
          </a:p>
          <a:p>
            <a:pPr>
              <a:defRPr sz="2200">
                <a:solidFill>
                  <a:srgbClr val="202020"/>
                </a:solidFill>
              </a:defRPr>
            </a:pPr>
            <a:r>
              <a:t>经营：CAC、LTV、回本周期、月毛利率。</a:t>
            </a:r>
          </a:p>
          <a:p>
            <a:pPr>
              <a:defRPr sz="2200">
                <a:solidFill>
                  <a:srgbClr val="202020"/>
                </a:solidFill>
              </a:defRPr>
            </a:pPr>
            <a:r>
              <a:t>稳定性：支付成功率、可用性、P95 延迟。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87878"/>
                </a:solidFill>
              </a:defRPr>
            </a:pPr>
            <a:r>
              <a:t>OraSage | 5人最小化运营 BP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D2357"/>
                </a:solidFill>
              </a:defRPr>
            </a:pPr>
            <a:r>
              <a:t>风险与融资用途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02020"/>
                </a:solidFill>
              </a:defRPr>
            </a:pPr>
            <a:r>
              <a:t>主要风险：支付迁移、系统稳定性、增长效率、合规风险。</a:t>
            </a:r>
          </a:p>
          <a:p>
            <a:pPr>
              <a:defRPr sz="2200">
                <a:solidFill>
                  <a:srgbClr val="202020"/>
                </a:solidFill>
              </a:defRPr>
            </a:pPr>
            <a:r>
              <a:t>应对：灰度上线、监控告警、预算闸门、法务审查。</a:t>
            </a:r>
          </a:p>
          <a:p>
            <a:pPr>
              <a:defRPr sz="2200">
                <a:solidFill>
                  <a:srgbClr val="202020"/>
                </a:solidFill>
              </a:defRPr>
            </a:pPr>
            <a:r>
              <a:t>资金用途：产品迭代、增长投放、内容生产、风险缓冲。</a:t>
            </a:r>
          </a:p>
          <a:p>
            <a:pPr>
              <a:defRPr sz="2200">
                <a:solidFill>
                  <a:srgbClr val="202020"/>
                </a:solidFill>
              </a:defRPr>
            </a:pPr>
            <a:r>
              <a:t>目标：12个月达成可持续增长与月度盈亏平衡。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87878"/>
                </a:solidFill>
              </a:defRPr>
            </a:pPr>
            <a:r>
              <a:t>OraSage | 5人最小化运营 BP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